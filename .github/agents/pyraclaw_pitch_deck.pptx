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ARR ($M)</c:v>
                </c:pt>
              </c:strCache>
            </c:strRef>
          </c:tx>
          <c:spPr>
            <a:solidFill>
              <a:srgbClr val="6EAEF8"/>
            </a:solidFill>
          </c:spPr>
          <c:cat>
            <c:strRef>
              <c:f>Sheet1!$A$2:$A$6</c:f>
              <c:strCache>
                <c:ptCount val="5"/>
                <c:pt idx="0">
                  <c:v>Seed</c:v>
                </c:pt>
                <c:pt idx="1">
                  <c:v>Series A</c:v>
                </c:pt>
                <c:pt idx="2">
                  <c:v>Series B</c:v>
                </c:pt>
                <c:pt idx="3">
                  <c:v>Series D</c:v>
                </c:pt>
                <c:pt idx="4">
                  <c:v>Series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18</c:v>
                </c:pt>
                <c:pt idx="2">
                  <c:v>60</c:v>
                </c:pt>
                <c:pt idx="3">
                  <c:v>180</c:v>
                </c:pt>
                <c:pt idx="4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w-logo-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03120" y="1280160"/>
            <a:ext cx="5943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EAEF8"/>
                </a:solidFill>
              </a:defRPr>
            </a:pPr>
            <a:r>
              <a:rPr/>
              <a:t>PyraClaw</a:t>
            </a:r>
          </a:p>
          <a:p>
            <a:pPr>
              <a:defRPr sz="1800">
                <a:solidFill>
                  <a:srgbClr val="C6D6F1"/>
                </a:solidFill>
              </a:defRPr>
            </a:pPr>
            <a:r>
              <a:rPr/>
              <a:t>Evidence‑Sealed Sovereign AI Platform</a:t>
            </a:r>
          </a:p>
          <a:p>
            <a:pPr>
              <a:defRPr sz="1100">
                <a:solidFill>
                  <a:srgbClr val="A3B4D3"/>
                </a:solidFill>
              </a:defRPr>
            </a:pPr>
            <a:r>
              <a:rPr/>
              <a:t>Investor Pitch Deck ·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6EAEF8"/>
                </a:solidFill>
              </a:defRPr>
            </a:pPr>
            <a:r>
              <a:rPr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9EFF7"/>
                </a:solidFill>
              </a:defRPr>
            </a:pPr>
            <a:r>
              <a:rPr/>
              <a:t>PyraClaw transforms fragmented AI prototypes into a unified, governed deployment surface.</a:t>
            </a:r>
          </a:p>
          <a:p>
            <a:pPr>
              <a:defRPr sz="1600">
                <a:solidFill>
                  <a:srgbClr val="E9EFF7"/>
                </a:solidFill>
              </a:defRPr>
            </a:pPr>
          </a:p>
          <a:p>
            <a:pPr lvl="1">
              <a:defRPr sz="1600">
                <a:solidFill>
                  <a:srgbClr val="A3B4D3"/>
                </a:solidFill>
              </a:defRPr>
            </a:pPr>
            <a:r>
              <a:rPr/>
              <a:t>• Evidence‑sealed orchestration for deterministic, auditable, sovereign AI execution.</a:t>
            </a:r>
          </a:p>
          <a:p>
            <a:pPr lvl="1">
              <a:defRPr sz="1600">
                <a:solidFill>
                  <a:srgbClr val="A3B4D3"/>
                </a:solidFill>
              </a:defRPr>
            </a:pPr>
            <a:r>
              <a:rPr/>
              <a:t>• Multi‑model, multi‑agent workflows with cryptographic proof‑of‑execution and capsule‑based replay.</a:t>
            </a:r>
          </a:p>
          <a:p>
            <a:pPr lvl="1">
              <a:defRPr sz="1600">
                <a:solidFill>
                  <a:srgbClr val="A3B4D3"/>
                </a:solidFill>
              </a:defRPr>
            </a:pPr>
            <a:r>
              <a:rPr/>
              <a:t>• Governed by a constitutional gate, orchestrated by the iAiA core, verified by RSFS, and delivered via a secure deploy gate.</a:t>
            </a:r>
          </a:p>
          <a:p>
            <a:pPr lvl="1">
              <a:defRPr sz="1600">
                <a:solidFill>
                  <a:srgbClr val="A3B4D3"/>
                </a:solidFill>
              </a:defRPr>
            </a:pPr>
            <a:r>
              <a:rPr/>
              <a:t>• Developed over 30,000 hours by CTO Byron Callaghan; led by CEO Malcolm Carter.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The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6D6F1"/>
                </a:solidFill>
              </a:defRPr>
            </a:pPr>
            <a:r>
              <a:rPr/>
              <a:t>The Problem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Fragmented AI prototypes lack governance and trust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No deterministic proof of execution or reproducibility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Regulated industries require auditability and compliance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Multi‑agent workflows are brittle and difficult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6D6F1"/>
                </a:solidFill>
              </a:defRPr>
            </a:pPr>
            <a:r>
              <a:rPr/>
              <a:t>The Opportunity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Rapid adoption of AI in regulated sectors (legal, finance, defence, healthcare)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Demand for verifiable AI with chain‑of‑custody and evidence logs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Emerging agentic frameworks need orchestrated, sovereign runtime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Market gap for a compliance‑first, multi‑model AI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Our Solution: PyraClaw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Evidence‑sealed orchestration: every run produces a replayable capsule with signed digests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Multi‑agent, multi‑model mesh with deterministic scheduling and routing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Recursive State Feedback System (RSFS) for self‑scoring and alignment checks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RAG + knowledge weave for context‑rich retrieval across proprietary corpora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Governance gate and deploy gate ensure fail‑closed, safe promotion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Native support for GPU/NPU inference and on‑prem/cloud clusters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Architecture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Constitutional Gate – ethical and policy enforcement before any task runs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iAiA Orchestrator – decomposes objectives and routes to agents/models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Private Runtime Adapters – secure interfaces to multiple LLMs and tools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RAG + Knowledge Weave – structured retrieval with provenance tracking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Swarm Execution Plane – controlled spawning of agents (8×8 pods, 33+64 seeds)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RSFS Verification Core – recursive scoring for correctness and stability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Deploy Gate – canary, signature and rollback before promotion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Command Surface – dashboards for operators, auditors and investors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Evidence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Capsule Anatomy: inputs.json, outputs.json, digests.json, verify.sh, receipt.json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Signed attestations with Ed25519; anchored to NEAR, Polygon and Ethereum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SFA 5‑Dip Patch: seal → filter → attest to protect inputs, retrieval, execution, outputs and promotion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Public/private separation: investor‑ready metadata vs protected internals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Replay before promotion – no capsule moves forward without deterministic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Market &amp; 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6D6F1"/>
                </a:solidFill>
              </a:defRPr>
            </a:pPr>
            <a:r>
              <a:rPr/>
              <a:t>Addressable Markets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Regulated industries: legal tech, finance, defence, healthcare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Government agencies seeking auditable AI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Enterprises deploying internal AI agents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6D6F1"/>
                </a:solidFill>
              </a:defRPr>
            </a:pPr>
            <a:r>
              <a:rPr/>
              <a:t>Revenue Streams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Agent‑as‑a‑Service licensing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Evidence Verification SaaS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API / SDK usage fees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Pilot &amp; Integration contracts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Operator subscriptions (Starter, Pro, Enterprise)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Creator‑led growth &amp; partnerships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DOI / Evidence packaging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Financial Trajectory &amp; Funding Plan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438912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37760" y="128016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6D6F1"/>
                </a:solidFill>
              </a:defRPr>
            </a:pPr>
            <a:r>
              <a:rPr/>
              <a:t>Funding Rounds</a:t>
            </a:r>
          </a:p>
          <a:p>
            <a:pPr lvl="1">
              <a:defRPr sz="1200">
                <a:solidFill>
                  <a:srgbClr val="A3B4D3"/>
                </a:solidFill>
              </a:defRPr>
            </a:pPr>
            <a:r>
              <a:rPr/>
              <a:t>Seed (Q3 2026): $29M–$50M raise at $80M–$150M valuation</a:t>
            </a:r>
          </a:p>
          <a:p>
            <a:pPr lvl="1">
              <a:defRPr sz="1200">
                <a:solidFill>
                  <a:srgbClr val="A3B4D3"/>
                </a:solidFill>
              </a:defRPr>
            </a:pPr>
            <a:r>
              <a:rPr/>
              <a:t>Series A (Q1 2027): $75M–$120M raise at $300M–$500M valuation</a:t>
            </a:r>
          </a:p>
          <a:p>
            <a:pPr lvl="1">
              <a:defRPr sz="1200">
                <a:solidFill>
                  <a:srgbClr val="A3B4D3"/>
                </a:solidFill>
              </a:defRPr>
            </a:pPr>
            <a:r>
              <a:rPr/>
              <a:t>Series B (Q3 2027): $150M–$250M raise at $800M–$1.2B valuation</a:t>
            </a:r>
          </a:p>
          <a:p>
            <a:pPr lvl="1">
              <a:defRPr sz="1200">
                <a:solidFill>
                  <a:srgbClr val="A3B4D3"/>
                </a:solidFill>
              </a:defRPr>
            </a:pPr>
            <a:r>
              <a:rPr/>
              <a:t>Series D (Q2 2028): $400M–$600M raise at $2.5B–$4B valuation</a:t>
            </a:r>
          </a:p>
          <a:p>
            <a:pPr lvl="1">
              <a:defRPr sz="1200">
                <a:solidFill>
                  <a:srgbClr val="A3B4D3"/>
                </a:solidFill>
              </a:defRPr>
            </a:pPr>
            <a:r>
              <a:rPr/>
              <a:t>Series E (Q4 2028): $800M–$1.2B raise at $8B–$12B 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Implementation Plan: Prince2·Agile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Stage 1 (Q2 2026): Consolidate prototype into core platform; build 5 production services and governance gate; prepare investor demo.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Stage 2 (Q3 2026): Deploy Seed capital; hire 15 engineers; complete NVIDIA/GPU cluster; onboard first 10 enterprise pilots; seal NEUSARS v4.0.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Stage 3 (Q1 2027): Expand to 50 enterprises; launch PyraClaw OS beta; integrate WISeer recursive loop; apply for .robotics TLD.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Stage 4 (Q3 2027 onward): Global expansion; design ASICs; secure sovereign cloud infrastructure; scale team to 200+.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Agile cadence: 2‑week sprints with RACI enforcement; each stage governed by evidence capsule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Team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Byron Callaghan – CTO &amp; Architect. 30K hours of sovereign AI design.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Malcolm Carter – CEO &amp; Creative Director. Award‑winning filmmaker driving cinematic discipline.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Ethics &amp; Safety Officer – Enforces humanitarian directives; veto power over harmful features.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Evidence Custodian – Manages Zenodo DOI and immutable hashes.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Project Manager – Orchestrates agile sprints within PRINCE2 stage boundaries.</a:t>
            </a:r>
          </a:p>
          <a:p>
            <a:pPr lvl="1">
              <a:defRPr sz="1300">
                <a:solidFill>
                  <a:srgbClr val="A3B4D3"/>
                </a:solidFill>
              </a:defRPr>
            </a:pPr>
            <a:r>
              <a:rPr/>
              <a:t>Advisors &amp; Board – Senior leaders from defence, finance and technology overseeing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6EAEF8"/>
                </a:solidFill>
              </a:defRPr>
            </a:pPr>
            <a:r>
              <a:rPr/>
              <a:t>Next Steps &amp; Investment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Raise $29M–$50M in Seed funding to build the sovereign runtime and evidence infrastructure.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Secure 10 enterprise pilot commitments and first revenue ($500K MRR) within 12 months.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Engage with investors who value evidence‑first AI and sovereign infrastructure.</a:t>
            </a:r>
          </a:p>
          <a:p>
            <a:pPr lvl="1">
              <a:defRPr sz="1400">
                <a:solidFill>
                  <a:srgbClr val="A3B4D3"/>
                </a:solidFill>
              </a:defRPr>
            </a:pPr>
            <a:r>
              <a:rPr/>
              <a:t>Join us in building the trusted AI operating system for the next decade.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6EAEF8"/>
                </a:solidFill>
              </a:defRPr>
            </a:pPr>
            <a:r>
              <a:rPr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3B4D3"/>
                </a:solidFill>
              </a:defRPr>
            </a:pPr>
            <a:r>
              <a:rPr/>
              <a:t>Contact us to continue the conversation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